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34A"/>
    <a:srgbClr val="311731"/>
    <a:srgbClr val="6D1D6B"/>
    <a:srgbClr val="491347"/>
    <a:srgbClr val="762EB1"/>
    <a:srgbClr val="4F1F76"/>
    <a:srgbClr val="482CBC"/>
    <a:srgbClr val="301D7E"/>
    <a:srgbClr val="474091"/>
    <a:srgbClr val="2F2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61CC8-D844-4000-8FFB-B21FECFE4AD0}" v="1285" dt="2025-04-24T14:24:13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6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0DD441-7C40-675F-5555-BA19731FE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6DBD74B-B467-F09F-D8A0-0439AEB81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9E8FF7-1B1E-EA64-6834-DEC1C294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9DC872-6604-A9F2-71C8-47047AD49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EEC89A-0266-78D7-53EF-1F1973DC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0D9D82-86D6-C40D-3919-A213113C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EFE15A-9FF0-2711-0C64-D2A4E99A8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8687876-CA0A-EE02-55D2-1A087FDD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014130A-005E-1B49-EC8B-8330B852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2D8920E-1E96-F43A-C858-AEFBC394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1E4DE5-8C52-C6EB-ED34-5A537A6F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88800F4-906E-2313-0178-7BF03C0E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B2B06F-E6AE-D240-46C0-955796B4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61E62D-C3C1-EC3D-AA7C-5A7AEC31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BC5AAF-4A9A-F6C1-359B-E23FF9E8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1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004B20-BF75-ABA9-427C-F5E5982C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236A0B-E7F0-73BB-4050-483A879A5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FBDB90F-8406-7C99-D0DF-84E176FC4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5C95DCE-8235-A32B-9CEA-F2AEE54D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E5C484-6226-E518-FA1D-CBD64179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CF1A64C-84DC-7550-85BA-9BE66CA7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1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357E2A-9162-F2C1-BAA6-4027E4D3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996CFCC-3D62-8511-07DA-F6623AC0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E918F86-A904-7891-1032-FDC1C20EF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680BC08-E2C3-3EE7-BD4E-8AF40FF7E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6A4F485-2568-3E62-E3EC-E87A1F0E3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80F83E6-084C-18F2-0A82-00893DA2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731FC80-71F8-EDB5-637F-BC4FCD8D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C10C654-E86D-576B-DDFA-63EF7317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321DC3-A38E-8E39-FF78-E2B52E1C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100CAE-9F50-897F-5899-214D1577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8DC4597-C571-9DB4-A5B2-5CBB7AC8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D3EC5CE-9BB8-676A-7540-14DF4595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D6D1217-92A6-0A83-096C-DCB16848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71F7778-ABB5-EF9C-A6B0-EC59224F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438AE6D-D5DC-9037-2BC7-78D01B1C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4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4DA1CB-4B31-F91C-3D3A-CB6FE0BE6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0B0624-1D6D-1722-32A5-E7AA8CA95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2459FD3-CA0C-33BD-7B60-0D4437E08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B296865-E88B-F044-290F-491B1739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63260C-BE80-BA72-E1B4-7F2B4F29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669A68D-98EB-8492-0B38-3178ED62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9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30B083-0C5B-4F3E-AACE-FA8940B6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7304A86-08EC-427D-A0EA-722C39BA0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32F058F-E4D0-CDAC-6437-E27720D7F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80D647C-ED83-0060-365C-1D4E7E75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311EC86-ACED-BBF8-3F22-65E3079B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8FE0B16-CD45-9A5F-1CB5-073FECCF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3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61F2F7-26C4-6710-891B-EA69E6C6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CDE919F-5C00-B7E7-42F3-C5DE5918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DFD937-1112-EC3C-9655-9F2F0A72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F5837D-7559-7837-9AC8-41C61893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A8915A-0096-43A1-EFD0-F381A373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8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8F8552B-6C1C-7BAB-A9B5-3C34DBFB2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F438D95-E25F-7B21-6E0A-B7B7BD23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BB59D6-995E-1708-945F-CA9426DB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CC3A06-DF71-6BB4-3792-F048E75C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CDBDDF-FE88-371D-C978-BA1EFAA0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5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9FA3D61-575E-E104-82AC-F22B4270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64D7B1-4AC3-68F8-4AA6-67D79F71A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CC9ED05-FE41-143C-F566-9DA4AA078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E7A47-C073-411D-87E2-2C8DC5EAED38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3CC362-DF38-373D-41EB-FFE6BEF8C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AD6FDB-C2D9-1847-AE1A-CE7860387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65EF6-0AF4-4611-9539-BE3F8A44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6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10771381" y="8107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10838983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10943261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11030237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3787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283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80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10838983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10943261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11030237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5683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186622"/>
              <a:chOff x="1997085" y="390398"/>
              <a:chExt cx="7931482" cy="5061516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2117999"/>
                <a:ext cx="7931482" cy="33339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10943261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11030237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5070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351903"/>
                <a:chOff x="1997085" y="328352"/>
                <a:chExt cx="7931482" cy="6198689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030587"/>
                  <a:ext cx="7931482" cy="54964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timetable,(in the near future: grade students, track attendance)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(future: monitor absence % and financial status)</a:t>
                  </a:r>
                </a:p>
                <a:p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11030237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75685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 on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github</a:t>
                  </a: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71857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	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685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09672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 and form validation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9758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09672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66945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076" y="1733948"/>
              <a:ext cx="9220200" cy="4154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architecture – separates business logic, data, and 	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3212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09672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66945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238647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54599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09672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66945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238647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282557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392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295024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050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761993" y="-16880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819197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910364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971169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058007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09672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66945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238647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282557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082244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5"/>
                <a:chOff x="2136608" y="390397"/>
                <a:chExt cx="7931482" cy="5454612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48"/>
                  <a:ext cx="7931482" cy="40547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Absence tracking system</a:t>
                  </a:r>
                </a:p>
                <a:p>
                  <a:pPr lvl="2"/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Financial tracking system</a:t>
                  </a:r>
                </a:p>
                <a:p>
                  <a:pPr lvl="2"/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Grade uploads</a:t>
                  </a:r>
                </a:p>
                <a:p>
                  <a:pPr lvl="2"/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Homework and exercise submission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19321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231624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F9DDC4-B16C-0FFB-CEDC-6EF7DBB2E31C}"/>
              </a:ext>
            </a:extLst>
          </p:cNvPr>
          <p:cNvGrpSpPr/>
          <p:nvPr/>
        </p:nvGrpSpPr>
        <p:grpSpPr>
          <a:xfrm>
            <a:off x="10771381" y="8107"/>
            <a:ext cx="10738791" cy="6858000"/>
            <a:chOff x="1453209" y="0"/>
            <a:chExt cx="10738791" cy="6858000"/>
          </a:xfrm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8034759C-799D-AB25-9C57-7BD8E4A0F281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53209" y="2690336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2F2B60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AE73D-A15F-3947-0DCF-231D38EBD4D4}"/>
                </a:ext>
              </a:extLst>
            </p:cNvPr>
            <p:cNvSpPr txBox="1"/>
            <p:nvPr/>
          </p:nvSpPr>
          <p:spPr>
            <a:xfrm>
              <a:off x="3083007" y="3420893"/>
              <a:ext cx="6314745" cy="378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" name="Szövegdoboz 67">
              <a:extLst>
                <a:ext uri="{FF2B5EF4-FFF2-40B4-BE49-F238E27FC236}">
                  <a16:creationId xmlns:a16="http://schemas.microsoft.com/office/drawing/2014/main" id="{CF15893C-787F-20F8-2772-DDAE27F5045C}"/>
                </a:ext>
              </a:extLst>
            </p:cNvPr>
            <p:cNvSpPr txBox="1"/>
            <p:nvPr/>
          </p:nvSpPr>
          <p:spPr>
            <a:xfrm>
              <a:off x="3961848" y="496416"/>
              <a:ext cx="4268304" cy="662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ooper Black" panose="020F0502020204030204" pitchFamily="18" charset="0"/>
                </a:rPr>
                <a:t>THE PROBLEM</a:t>
              </a:r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6B96FCA-FAD6-05B4-7F47-3BE8EF725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229" y="1603429"/>
              <a:ext cx="8207541" cy="4893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Public schools use KRÉTA, but private schools lack a centralized system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Manual class scheduling</a:t>
              </a: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is slow, messy, and prone to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easy way to track or view student absences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Outdated design makes current tools frustrating to use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40000"/>
                      <a:lumOff val="60000"/>
                    </a:schemeClr>
                  </a:solidFill>
                  <a:effectLst/>
                  <a:latin typeface="Aharoni" panose="02010803020104030203" pitchFamily="2" charset="-79"/>
                  <a:cs typeface="Aharoni" panose="02010803020104030203" pitchFamily="2" charset="-79"/>
                </a:rPr>
                <a:t>No real-time updates or flexible customization options</a:t>
              </a:r>
            </a:p>
          </p:txBody>
        </p:sp>
        <p:pic>
          <p:nvPicPr>
            <p:cNvPr id="1026" name="Picture 2" descr="Problem - Free business and finance icons">
              <a:extLst>
                <a:ext uri="{FF2B5EF4-FFF2-40B4-BE49-F238E27FC236}">
                  <a16:creationId xmlns:a16="http://schemas.microsoft.com/office/drawing/2014/main" id="{846DE952-13B9-915D-472B-E18FC431A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biLevel thresh="75000"/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021" y="496415"/>
              <a:ext cx="668827" cy="662307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258E0-726C-2F56-6906-50C3149CC137}"/>
              </a:ext>
            </a:extLst>
          </p:cNvPr>
          <p:cNvGrpSpPr/>
          <p:nvPr/>
        </p:nvGrpSpPr>
        <p:grpSpPr>
          <a:xfrm>
            <a:off x="10838983" y="8107"/>
            <a:ext cx="10787446" cy="6858000"/>
            <a:chOff x="1404554" y="0"/>
            <a:chExt cx="10787446" cy="6858000"/>
          </a:xfrm>
        </p:grpSpPr>
        <p:sp>
          <p:nvSpPr>
            <p:cNvPr id="9" name="Téglalap 3">
              <a:extLst>
                <a:ext uri="{FF2B5EF4-FFF2-40B4-BE49-F238E27FC236}">
                  <a16:creationId xmlns:a16="http://schemas.microsoft.com/office/drawing/2014/main" id="{FB7C2C8A-CAC7-7D49-4E53-A5C40B00045A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" name="Szövegdoboz 4">
              <a:extLst>
                <a:ext uri="{FF2B5EF4-FFF2-40B4-BE49-F238E27FC236}">
                  <a16:creationId xmlns:a16="http://schemas.microsoft.com/office/drawing/2014/main" id="{6A4B2B84-7485-1A9D-3D90-82859BF49FC9}"/>
                </a:ext>
              </a:extLst>
            </p:cNvPr>
            <p:cNvSpPr txBox="1"/>
            <p:nvPr/>
          </p:nvSpPr>
          <p:spPr>
            <a:xfrm>
              <a:off x="1404554" y="2686794"/>
              <a:ext cx="517712" cy="923330"/>
            </a:xfrm>
            <a:prstGeom prst="rect">
              <a:avLst/>
            </a:prstGeom>
            <a:noFill/>
            <a:effectLst>
              <a:innerShdw blurRad="63500" dist="50800" dir="108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rgbClr val="474091"/>
                  </a:solid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  <a:latin typeface="ChunkFive" panose="00000500000000000000" pitchFamily="50" charset="0"/>
                </a:rPr>
                <a:t>2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3AD809-B8B5-04CC-E183-28291DA928E9}"/>
                </a:ext>
              </a:extLst>
            </p:cNvPr>
            <p:cNvGrpSpPr/>
            <p:nvPr/>
          </p:nvGrpSpPr>
          <p:grpSpPr>
            <a:xfrm>
              <a:off x="1992229" y="496416"/>
              <a:ext cx="8207541" cy="5740620"/>
              <a:chOff x="1997085" y="390398"/>
              <a:chExt cx="7931482" cy="5602151"/>
            </a:xfrm>
          </p:grpSpPr>
          <p:sp>
            <p:nvSpPr>
              <p:cNvPr id="1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00456" y="390398"/>
                <a:ext cx="4124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THE SOLUTION</a:t>
                </a:r>
              </a:p>
            </p:txBody>
          </p:sp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96B96FCA-FAD6-05B4-7F47-3BE8EF72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85" y="1577364"/>
                <a:ext cx="7931482" cy="4415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centralized timetable platform where teachers can submit their availability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Admins can assign classes easily based on submitted 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Built-in absence tracking for students and teachers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Clean, modern interface designed for ease of use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Customizable features to match different school structures and needs</a:t>
                </a:r>
              </a:p>
            </p:txBody>
          </p:sp>
        </p:grpSp>
        <p:pic>
          <p:nvPicPr>
            <p:cNvPr id="2052" name="Picture 4" descr="Solution - Free electronics icons">
              <a:extLst>
                <a:ext uri="{FF2B5EF4-FFF2-40B4-BE49-F238E27FC236}">
                  <a16:creationId xmlns:a16="http://schemas.microsoft.com/office/drawing/2014/main" id="{D165331C-52DA-6BA6-4D15-E53C261F0D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9541" y="496416"/>
              <a:ext cx="662307" cy="66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D887AE-3361-00DE-11C0-A5823EC24454}"/>
              </a:ext>
            </a:extLst>
          </p:cNvPr>
          <p:cNvGrpSpPr/>
          <p:nvPr/>
        </p:nvGrpSpPr>
        <p:grpSpPr>
          <a:xfrm>
            <a:off x="10943261" y="8107"/>
            <a:ext cx="10789672" cy="6858000"/>
            <a:chOff x="1402328" y="0"/>
            <a:chExt cx="10789672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2328" y="0"/>
              <a:ext cx="10789672" cy="6858000"/>
              <a:chOff x="1402328" y="0"/>
              <a:chExt cx="10789672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2328" y="0"/>
                <a:ext cx="10789672" cy="6858000"/>
                <a:chOff x="1402328" y="0"/>
                <a:chExt cx="10789672" cy="6858000"/>
              </a:xfrm>
            </p:grpSpPr>
            <p:sp>
              <p:nvSpPr>
                <p:cNvPr id="2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2328" y="2690336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01D7E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3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32836"/>
                <a:ext cx="8207541" cy="6167237"/>
                <a:chOff x="1997085" y="328352"/>
                <a:chExt cx="7931482" cy="6018476"/>
              </a:xfrm>
            </p:grpSpPr>
            <p:sp>
              <p:nvSpPr>
                <p:cNvPr id="1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842127" y="328352"/>
                  <a:ext cx="4241399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FUNCTIONALITY</a:t>
                  </a:r>
                </a:p>
              </p:txBody>
            </p:sp>
            <p:sp>
              <p:nvSpPr>
                <p:cNvPr id="1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210798"/>
                  <a:ext cx="7931482" cy="51360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Admin Dashboard: manage users, classes, subjects, timetables, view system stats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Teacher Dashboard: submit availability, view timetable, grade students, track attendance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Student Dashboard: view timetable, check grades, monitor absence %, receive notifications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Dynamic Timetable Creation: Creating schedules based on availability and subject needs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Mobile-Friendly Interface: accessible on phones, tablets, and desktops</a:t>
                  </a:r>
                </a:p>
              </p:txBody>
            </p:sp>
          </p:grpSp>
        </p:grpSp>
        <p:pic>
          <p:nvPicPr>
            <p:cNvPr id="3074" name="Picture 2" descr="Function - Free construction and tools icons">
              <a:extLst>
                <a:ext uri="{FF2B5EF4-FFF2-40B4-BE49-F238E27FC236}">
                  <a16:creationId xmlns:a16="http://schemas.microsoft.com/office/drawing/2014/main" id="{05F02A8E-196D-63B7-166A-E13F847A0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4460" y="369332"/>
              <a:ext cx="767029" cy="767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2C618-5853-7261-A412-7F6B3358CDD6}"/>
              </a:ext>
            </a:extLst>
          </p:cNvPr>
          <p:cNvGrpSpPr/>
          <p:nvPr/>
        </p:nvGrpSpPr>
        <p:grpSpPr>
          <a:xfrm>
            <a:off x="11030237" y="16214"/>
            <a:ext cx="10797540" cy="6858000"/>
            <a:chOff x="1394460" y="0"/>
            <a:chExt cx="10797540" cy="6858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94460" y="0"/>
              <a:ext cx="10797540" cy="6858000"/>
              <a:chOff x="1394460" y="0"/>
              <a:chExt cx="10797540" cy="6858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94460" y="0"/>
                <a:ext cx="10797540" cy="6858000"/>
                <a:chOff x="1394460" y="0"/>
                <a:chExt cx="10797540" cy="6858000"/>
              </a:xfrm>
            </p:grpSpPr>
            <p:sp>
              <p:nvSpPr>
                <p:cNvPr id="28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94460" y="2686794"/>
                  <a:ext cx="52780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82CBC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4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1992229" y="496416"/>
                <a:ext cx="8207541" cy="6277592"/>
                <a:chOff x="1997085" y="390398"/>
                <a:chExt cx="7931482" cy="6126168"/>
              </a:xfrm>
            </p:grpSpPr>
            <p:sp>
              <p:nvSpPr>
                <p:cNvPr id="26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4331767" y="390398"/>
                  <a:ext cx="326212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TEAMWORK</a:t>
                  </a:r>
                </a:p>
              </p:txBody>
            </p:sp>
            <p:sp>
              <p:nvSpPr>
                <p:cNvPr id="27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7085" y="1380537"/>
                  <a:ext cx="7931482" cy="51360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Team Approach: Divided by Skills and Tools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Loránd Blaschek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Frontend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UI/UX design (layouts, colors, interactions)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Built user-facing dashboards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Bence </a:t>
                  </a:r>
                  <a:r>
                    <a:rPr lang="en-US" sz="2400" dirty="0" err="1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Kaló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Backend development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Database structure and connections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API logic and data management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Communication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Used Discord for coordination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Shared updates, files, and task distribution</a:t>
                  </a:r>
                </a:p>
              </p:txBody>
            </p:sp>
          </p:grpSp>
        </p:grpSp>
        <p:pic>
          <p:nvPicPr>
            <p:cNvPr id="4098" name="Picture 2" descr="High five - Free hands and gestures icons">
              <a:extLst>
                <a:ext uri="{FF2B5EF4-FFF2-40B4-BE49-F238E27FC236}">
                  <a16:creationId xmlns:a16="http://schemas.microsoft.com/office/drawing/2014/main" id="{292BB83B-EDAB-BCA0-EBC0-558FC503F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152" y="496416"/>
              <a:ext cx="646331" cy="646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9CAB2C-2BF7-A439-D2EC-5D0A2306AFB9}"/>
              </a:ext>
            </a:extLst>
          </p:cNvPr>
          <p:cNvGrpSpPr/>
          <p:nvPr/>
        </p:nvGrpSpPr>
        <p:grpSpPr>
          <a:xfrm>
            <a:off x="11167135" y="0"/>
            <a:ext cx="10787446" cy="6858000"/>
            <a:chOff x="1404554" y="0"/>
            <a:chExt cx="10787446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36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F1F76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5</a:t>
                  </a:r>
                </a:p>
              </p:txBody>
            </p:sp>
          </p:grpSp>
          <p:sp>
            <p:nvSpPr>
              <p:cNvPr id="35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12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Technologies &amp; Tools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A08B2-3403-60E4-0A99-D2FACF5479AC}"/>
                </a:ext>
              </a:extLst>
            </p:cNvPr>
            <p:cNvGrpSpPr/>
            <p:nvPr/>
          </p:nvGrpSpPr>
          <p:grpSpPr>
            <a:xfrm>
              <a:off x="2188008" y="507776"/>
              <a:ext cx="9738250" cy="5176444"/>
              <a:chOff x="2188008" y="507776"/>
              <a:chExt cx="9738250" cy="5176444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AEE76B1F-136D-070B-8EB5-71760A143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008" y="1898568"/>
                <a:ext cx="973825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Software &amp; Platforms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Visual Studio Code – main code editor for frontend and 	backend development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phpMyAdmin – used to manage and test the database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GitHub – version control, collaboration, and project backup</a:t>
                </a:r>
              </a:p>
              <a:p>
                <a:pPr marR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Discord – team communication and coordination</a:t>
                </a:r>
              </a:p>
              <a:p>
                <a:pPr marR="0" indent="-28575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Frameworks &amp; Libraries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Bootstrap – for responsive, mobile-friendly UI components</a:t>
                </a:r>
                <a:b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</a:br>
                <a:r>
                  <a:rPr lang="en-US" alt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CodeIgniter – lightweight PHP framework used to 	structure backend code efficiently</a:t>
                </a:r>
              </a:p>
            </p:txBody>
          </p:sp>
          <p:pic>
            <p:nvPicPr>
              <p:cNvPr id="1028" name="Picture 4" descr="Tools - Free marketing icons">
                <a:extLst>
                  <a:ext uri="{FF2B5EF4-FFF2-40B4-BE49-F238E27FC236}">
                    <a16:creationId xmlns:a16="http://schemas.microsoft.com/office/drawing/2014/main" id="{53ADB1AE-09C2-2596-5CFE-F9C0A3BB04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199" y="507776"/>
                <a:ext cx="666004" cy="666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A17CCC-4623-83DE-764B-051365A2F88F}"/>
              </a:ext>
            </a:extLst>
          </p:cNvPr>
          <p:cNvGrpSpPr/>
          <p:nvPr/>
        </p:nvGrpSpPr>
        <p:grpSpPr>
          <a:xfrm>
            <a:off x="11282279" y="8107"/>
            <a:ext cx="10812780" cy="6858000"/>
            <a:chOff x="1379220" y="0"/>
            <a:chExt cx="10812780" cy="685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79220" y="0"/>
              <a:ext cx="10812780" cy="6858000"/>
              <a:chOff x="1379220" y="0"/>
              <a:chExt cx="10812780" cy="6858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79220" y="0"/>
                <a:ext cx="10812780" cy="6858000"/>
                <a:chOff x="1379220" y="0"/>
                <a:chExt cx="10812780" cy="6858000"/>
              </a:xfrm>
            </p:grpSpPr>
            <p:sp>
              <p:nvSpPr>
                <p:cNvPr id="44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79220" y="2686793"/>
                  <a:ext cx="54304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762EB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6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97257" y="496415"/>
                <a:ext cx="9329572" cy="5138104"/>
                <a:chOff x="2195215" y="390397"/>
                <a:chExt cx="9015774" cy="5014167"/>
              </a:xfrm>
            </p:grpSpPr>
            <p:sp>
              <p:nvSpPr>
                <p:cNvPr id="42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630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Frontend</a:t>
                  </a:r>
                </a:p>
              </p:txBody>
            </p:sp>
            <p:sp>
              <p:nvSpPr>
                <p:cNvPr id="43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215" y="1710226"/>
                  <a:ext cx="9015774" cy="3694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Design Approach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Responsive layout that works on desktop and mobile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Clean and modern UI for a smooth user experience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Focused on simplicity for all user roles</a:t>
                  </a: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endParaRPr lang="en-US" sz="24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  <a:p>
                  <a:pPr indent="-3429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Tx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Languages Used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HTML – for structuring pages and elements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CSS – for styling, layout, fonts, colors, and animations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JavaScript – for adding interactivity, such as menu 	toggles, form validation, and dynamic updates</a:t>
                  </a:r>
                </a:p>
              </p:txBody>
            </p:sp>
          </p:grpSp>
        </p:grpSp>
        <p:pic>
          <p:nvPicPr>
            <p:cNvPr id="2050" name="Picture 2" descr="Front end - Free web icons">
              <a:extLst>
                <a:ext uri="{FF2B5EF4-FFF2-40B4-BE49-F238E27FC236}">
                  <a16:creationId xmlns:a16="http://schemas.microsoft.com/office/drawing/2014/main" id="{7194D6E5-1CDE-5411-B5BD-A769ABAC5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471" y="560900"/>
              <a:ext cx="517360" cy="517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DB3CF8-2F6D-FA46-098F-140D52CDCC58}"/>
              </a:ext>
            </a:extLst>
          </p:cNvPr>
          <p:cNvGrpSpPr/>
          <p:nvPr/>
        </p:nvGrpSpPr>
        <p:grpSpPr>
          <a:xfrm>
            <a:off x="11362522" y="16214"/>
            <a:ext cx="10805160" cy="6858000"/>
            <a:chOff x="1386840" y="0"/>
            <a:chExt cx="10805160" cy="6858000"/>
          </a:xfrm>
        </p:grpSpPr>
        <p:sp>
          <p:nvSpPr>
            <p:cNvPr id="47" name="Téglalap 3">
              <a:extLst>
                <a:ext uri="{FF2B5EF4-FFF2-40B4-BE49-F238E27FC236}">
                  <a16:creationId xmlns:a16="http://schemas.microsoft.com/office/drawing/2014/main" id="{88294080-0AAE-101B-A962-4C4BF45853D3}"/>
                </a:ext>
              </a:extLst>
            </p:cNvPr>
            <p:cNvSpPr/>
            <p:nvPr/>
          </p:nvSpPr>
          <p:spPr>
            <a:xfrm>
              <a:off x="1847850" y="0"/>
              <a:ext cx="10344150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  <a:noFill/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  <a:grpFill/>
            </p:grpSpPr>
            <p:sp>
              <p:nvSpPr>
                <p:cNvPr id="53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grp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91347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7</a:t>
                  </a:r>
                </a:p>
              </p:txBody>
            </p:sp>
          </p:grpSp>
          <p:sp>
            <p:nvSpPr>
              <p:cNvPr id="52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8" y="496416"/>
                <a:ext cx="4268304" cy="646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Backend</a:t>
                </a:r>
              </a:p>
            </p:txBody>
          </p:sp>
        </p:grpSp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2FBB309C-2E04-36CE-27DF-F4E6199C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1861631"/>
              <a:ext cx="9220200" cy="3785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Languages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PHP – core backend language, handles server-side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logic, 	form handling, and data processing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– used to interact with the MySQL database, 	perform queries, and manage relational data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Framework: CodeIgniter (MVC PHP Framework)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MVC (Model-View-Controller) architecture – 	separates 	business logic, data, and interface for cleaner code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Built-in tools like routing, session handling, 	form 	validation, and security features.</a:t>
              </a:r>
            </a:p>
          </p:txBody>
        </p:sp>
        <p:pic>
          <p:nvPicPr>
            <p:cNvPr id="50" name="Picture 2" descr="Backend - Free seo and web icons">
              <a:extLst>
                <a:ext uri="{FF2B5EF4-FFF2-40B4-BE49-F238E27FC236}">
                  <a16:creationId xmlns:a16="http://schemas.microsoft.com/office/drawing/2014/main" id="{519B0132-D387-8B01-FC86-9A13523B4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3002" y="549833"/>
              <a:ext cx="539498" cy="5394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7356B0-88F8-8721-B096-EF952A300953}"/>
              </a:ext>
            </a:extLst>
          </p:cNvPr>
          <p:cNvGrpSpPr/>
          <p:nvPr/>
        </p:nvGrpSpPr>
        <p:grpSpPr>
          <a:xfrm>
            <a:off x="11435650" y="0"/>
            <a:ext cx="10787446" cy="6858000"/>
            <a:chOff x="1404554" y="0"/>
            <a:chExt cx="10787446" cy="6858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404554" y="0"/>
              <a:ext cx="10787446" cy="6858000"/>
              <a:chOff x="1404554" y="0"/>
              <a:chExt cx="10787446" cy="685800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404554" y="0"/>
                <a:ext cx="10787446" cy="6858000"/>
                <a:chOff x="1404554" y="0"/>
                <a:chExt cx="10787446" cy="6858000"/>
              </a:xfrm>
            </p:grpSpPr>
            <p:sp>
              <p:nvSpPr>
                <p:cNvPr id="61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404554" y="2686794"/>
                  <a:ext cx="517712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6D1D6B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8</a:t>
                  </a:r>
                </a:p>
              </p:txBody>
            </p:sp>
          </p:grpSp>
          <p:sp>
            <p:nvSpPr>
              <p:cNvPr id="60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Database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D77744-C500-0910-2EC5-1C19A273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350" y="1425359"/>
              <a:ext cx="8305800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Technology Used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SQL with MySQL, managed via phpMyAdmin.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database setup to organize and link 	key data points.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Database Design Principles</a:t>
              </a: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Normalized structure – avoids redundancy and 	ensures data integrity.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b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</a:b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Relational links – use of foreign keys for efficient 	data retrieval.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lang="en-US" alt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	Designed to be scalable and easy to maintain as 	more users and classes are added</a:t>
              </a:r>
            </a:p>
          </p:txBody>
        </p:sp>
        <p:pic>
          <p:nvPicPr>
            <p:cNvPr id="58" name="Picture 2" descr="Database - Free seo and web icons">
              <a:extLst>
                <a:ext uri="{FF2B5EF4-FFF2-40B4-BE49-F238E27FC236}">
                  <a16:creationId xmlns:a16="http://schemas.microsoft.com/office/drawing/2014/main" id="{F849029A-F6B4-409B-BD09-D584CB4E8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599" y="580898"/>
              <a:ext cx="477365" cy="47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4A5CFB-10AA-B565-48B5-237B78CEB27A}"/>
              </a:ext>
            </a:extLst>
          </p:cNvPr>
          <p:cNvGrpSpPr/>
          <p:nvPr/>
        </p:nvGrpSpPr>
        <p:grpSpPr>
          <a:xfrm>
            <a:off x="11517942" y="8107"/>
            <a:ext cx="10805160" cy="6858000"/>
            <a:chOff x="1386840" y="0"/>
            <a:chExt cx="10805160" cy="6858000"/>
          </a:xfrm>
        </p:grpSpPr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386840" y="0"/>
              <a:ext cx="10805160" cy="6858000"/>
              <a:chOff x="1386840" y="0"/>
              <a:chExt cx="10805160" cy="6858000"/>
            </a:xfrm>
          </p:grpSpPr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386840" y="0"/>
                <a:ext cx="10805160" cy="6858000"/>
                <a:chOff x="1386840" y="0"/>
                <a:chExt cx="10805160" cy="6858000"/>
              </a:xfrm>
            </p:grpSpPr>
            <p:sp>
              <p:nvSpPr>
                <p:cNvPr id="4102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03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386840" y="2686794"/>
                  <a:ext cx="53542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311731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9</a:t>
                  </a:r>
                </a:p>
              </p:txBody>
            </p:sp>
          </p:grpSp>
          <p:sp>
            <p:nvSpPr>
              <p:cNvPr id="4101" name="Szövegdoboz 67">
                <a:extLst>
                  <a:ext uri="{FF2B5EF4-FFF2-40B4-BE49-F238E27FC236}">
                    <a16:creationId xmlns:a16="http://schemas.microsoft.com/office/drawing/2014/main" id="{CF15893C-787F-20F8-2772-DDAE27F5045C}"/>
                  </a:ext>
                </a:extLst>
              </p:cNvPr>
              <p:cNvSpPr txBox="1"/>
              <p:nvPr/>
            </p:nvSpPr>
            <p:spPr>
              <a:xfrm>
                <a:off x="3961849" y="496415"/>
                <a:ext cx="4268304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Cooper Black" panose="020F0502020204030204" pitchFamily="18" charset="0"/>
                  </a:rPr>
                  <a:t>Testing</a:t>
                </a:r>
              </a:p>
            </p:txBody>
          </p:sp>
        </p:grpSp>
        <p:sp>
          <p:nvSpPr>
            <p:cNvPr id="4097" name="Rectangle 2">
              <a:extLst>
                <a:ext uri="{FF2B5EF4-FFF2-40B4-BE49-F238E27FC236}">
                  <a16:creationId xmlns:a16="http://schemas.microsoft.com/office/drawing/2014/main" id="{6E5D83CB-44B4-A201-2ED9-A44248D1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005" y="2274838"/>
              <a:ext cx="8920766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Manual testing used during development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Checked user flows: registration, login, dashboard access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Verified timetable logic and availability handling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Tested data saving and display (grades, absences, etc.)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Reviewed layout on different screen sizes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lang="en-US" altLang="en-US" sz="2400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Validated forms and ensured role-based access</a:t>
              </a:r>
            </a:p>
          </p:txBody>
        </p:sp>
        <p:pic>
          <p:nvPicPr>
            <p:cNvPr id="4099" name="Picture 4" descr="Testing - Free computer icons">
              <a:extLst>
                <a:ext uri="{FF2B5EF4-FFF2-40B4-BE49-F238E27FC236}">
                  <a16:creationId xmlns:a16="http://schemas.microsoft.com/office/drawing/2014/main" id="{8D15E617-0BAF-73DE-97A2-F3889E7C4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276" y="496415"/>
              <a:ext cx="585323" cy="585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56C8D8C5-4E93-DC34-0F06-C95E9E73EDED}"/>
              </a:ext>
            </a:extLst>
          </p:cNvPr>
          <p:cNvGrpSpPr/>
          <p:nvPr/>
        </p:nvGrpSpPr>
        <p:grpSpPr>
          <a:xfrm>
            <a:off x="11278328" y="16214"/>
            <a:ext cx="11139056" cy="6858000"/>
            <a:chOff x="1052944" y="0"/>
            <a:chExt cx="11139056" cy="6858000"/>
          </a:xfrm>
        </p:grpSpPr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35465A8-66A8-2AB2-2D80-2AD4EBC70664}"/>
                </a:ext>
              </a:extLst>
            </p:cNvPr>
            <p:cNvGrpSpPr/>
            <p:nvPr/>
          </p:nvGrpSpPr>
          <p:grpSpPr>
            <a:xfrm>
              <a:off x="1052944" y="0"/>
              <a:ext cx="11139056" cy="6858000"/>
              <a:chOff x="1052944" y="0"/>
              <a:chExt cx="11139056" cy="6858000"/>
            </a:xfrm>
          </p:grpSpPr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19B78D52-78DE-1957-BD00-D6B8FCC73960}"/>
                  </a:ext>
                </a:extLst>
              </p:cNvPr>
              <p:cNvGrpSpPr/>
              <p:nvPr/>
            </p:nvGrpSpPr>
            <p:grpSpPr>
              <a:xfrm>
                <a:off x="1052944" y="0"/>
                <a:ext cx="11139056" cy="6858000"/>
                <a:chOff x="1052944" y="0"/>
                <a:chExt cx="11139056" cy="6858000"/>
              </a:xfrm>
            </p:grpSpPr>
            <p:sp>
              <p:nvSpPr>
                <p:cNvPr id="4110" name="Téglalap 3">
                  <a:extLst>
                    <a:ext uri="{FF2B5EF4-FFF2-40B4-BE49-F238E27FC236}">
                      <a16:creationId xmlns:a16="http://schemas.microsoft.com/office/drawing/2014/main" id="{8034759C-799D-AB25-9C57-7BD8E4A0F281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10344150" cy="6858000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1" name="Szövegdoboz 4">
                  <a:extLst>
                    <a:ext uri="{FF2B5EF4-FFF2-40B4-BE49-F238E27FC236}">
                      <a16:creationId xmlns:a16="http://schemas.microsoft.com/office/drawing/2014/main" id="{6A4B2B84-7485-1A9D-3D90-82859BF49FC9}"/>
                    </a:ext>
                  </a:extLst>
                </p:cNvPr>
                <p:cNvSpPr txBox="1"/>
                <p:nvPr/>
              </p:nvSpPr>
              <p:spPr>
                <a:xfrm>
                  <a:off x="1052944" y="2686793"/>
                  <a:ext cx="939286" cy="923330"/>
                </a:xfrm>
                <a:prstGeom prst="rect">
                  <a:avLst/>
                </a:prstGeom>
                <a:noFill/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dirty="0">
                      <a:solidFill>
                        <a:srgbClr val="4A234A"/>
                      </a:solidFill>
                      <a:effectLst>
                        <a:outerShdw blurRad="50800" dist="38100" dir="10800000" algn="r" rotWithShape="0">
                          <a:prstClr val="black">
                            <a:alpha val="40000"/>
                          </a:prstClr>
                        </a:outerShdw>
                      </a:effectLst>
                      <a:latin typeface="ChunkFive" panose="00000500000000000000" pitchFamily="50" charset="0"/>
                    </a:rPr>
                    <a:t>10</a:t>
                  </a:r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E93AD809-B8B5-04CC-E183-28291DA928E9}"/>
                  </a:ext>
                </a:extLst>
              </p:cNvPr>
              <p:cNvGrpSpPr/>
              <p:nvPr/>
            </p:nvGrpSpPr>
            <p:grpSpPr>
              <a:xfrm>
                <a:off x="2136609" y="496415"/>
                <a:ext cx="8207541" cy="5589437"/>
                <a:chOff x="2136608" y="390397"/>
                <a:chExt cx="7931482" cy="5454613"/>
              </a:xfrm>
            </p:grpSpPr>
            <p:sp>
              <p:nvSpPr>
                <p:cNvPr id="4108" name="Szövegdoboz 67">
                  <a:extLst>
                    <a:ext uri="{FF2B5EF4-FFF2-40B4-BE49-F238E27FC236}">
                      <a16:creationId xmlns:a16="http://schemas.microsoft.com/office/drawing/2014/main" id="{CF15893C-787F-20F8-2772-DDAE27F5045C}"/>
                    </a:ext>
                  </a:extLst>
                </p:cNvPr>
                <p:cNvSpPr txBox="1"/>
                <p:nvPr/>
              </p:nvSpPr>
              <p:spPr>
                <a:xfrm>
                  <a:off x="3900456" y="390397"/>
                  <a:ext cx="4124740" cy="1171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Cooper Black" panose="020F0502020204030204" pitchFamily="18" charset="0"/>
                    </a:rPr>
                    <a:t>Challenges &amp; Future Plans</a:t>
                  </a:r>
                </a:p>
              </p:txBody>
            </p:sp>
            <p:sp>
              <p:nvSpPr>
                <p:cNvPr id="4109" name="Rectangle 2">
                  <a:extLst>
                    <a:ext uri="{FF2B5EF4-FFF2-40B4-BE49-F238E27FC236}">
                      <a16:creationId xmlns:a16="http://schemas.microsoft.com/office/drawing/2014/main" id="{96B96FCA-FAD6-05B4-7F47-3BE8EF725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608" y="1790250"/>
                  <a:ext cx="7931482" cy="40547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Challenges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Timetable logic was complex – managing 	overlaps, availability, and room capacity.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Learning MVC with CodeIgniter took time.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Making the UI responsive for all user roles and 	devices.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Future Plans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Add automatic timetable generation.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Improve data security (e.g., encryption, logging).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Implement notifications for updates.</a:t>
                  </a:r>
                  <a:b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</a:br>
                  <a:r>
                    <a:rPr lang="en-US" sz="2400" dirty="0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latin typeface="Aharoni" panose="02010803020104030203" pitchFamily="2" charset="-79"/>
                      <a:cs typeface="Aharoni" panose="02010803020104030203" pitchFamily="2" charset="-79"/>
                    </a:rPr>
                    <a:t>	Develop a mobile-friendly or app version.</a:t>
                  </a:r>
                </a:p>
              </p:txBody>
            </p:sp>
          </p:grpSp>
        </p:grpSp>
        <p:pic>
          <p:nvPicPr>
            <p:cNvPr id="5122" name="Picture 2" descr="Challenge icons for free download | Freepik">
              <a:extLst>
                <a:ext uri="{FF2B5EF4-FFF2-40B4-BE49-F238E27FC236}">
                  <a16:creationId xmlns:a16="http://schemas.microsoft.com/office/drawing/2014/main" id="{971978D0-2615-59C6-403A-61BF9E5AC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prstClr val="black"/>
                <a:schemeClr val="accent1">
                  <a:tint val="45000"/>
                  <a:satMod val="400000"/>
                </a:schemeClr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259" y="748314"/>
              <a:ext cx="696529" cy="696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13" name="TextBox 4112">
            <a:extLst>
              <a:ext uri="{FF2B5EF4-FFF2-40B4-BE49-F238E27FC236}">
                <a16:creationId xmlns:a16="http://schemas.microsoft.com/office/drawing/2014/main" id="{3986F73C-3D35-18C6-F3A1-9DC03213BE33}"/>
              </a:ext>
            </a:extLst>
          </p:cNvPr>
          <p:cNvSpPr txBox="1"/>
          <p:nvPr/>
        </p:nvSpPr>
        <p:spPr>
          <a:xfrm>
            <a:off x="143787" y="4749346"/>
            <a:ext cx="4020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Made by:</a:t>
            </a:r>
          </a:p>
          <a:p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Bence </a:t>
            </a:r>
            <a:r>
              <a:rPr lang="en-US" sz="4000" dirty="0" err="1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Kaló</a:t>
            </a:r>
            <a:r>
              <a:rPr lang="en-US" sz="4000" dirty="0">
                <a:ln w="19050">
                  <a:solidFill>
                    <a:schemeClr val="tx2">
                      <a:lumMod val="5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50800" dist="38100" dir="10800000" sx="106000" sy="106000" algn="r" rotWithShape="0">
                    <a:prstClr val="black">
                      <a:alpha val="40000"/>
                    </a:prstClr>
                  </a:outerShdw>
                </a:effectLst>
                <a:latin typeface="Script MT Bold" panose="03040602040607080904" pitchFamily="66" charset="0"/>
              </a:rPr>
              <a:t>, Loránd Blaschek</a:t>
            </a:r>
          </a:p>
        </p:txBody>
      </p:sp>
      <p:pic>
        <p:nvPicPr>
          <p:cNvPr id="4114" name="Picture 2">
            <a:extLst>
              <a:ext uri="{FF2B5EF4-FFF2-40B4-BE49-F238E27FC236}">
                <a16:creationId xmlns:a16="http://schemas.microsoft.com/office/drawing/2014/main" id="{F632985E-8C2A-19B4-E82C-F79AD4CEF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61" b="89941" l="8789" r="89941">
                        <a14:foregroundMark x1="18945" y1="49219" x2="18945" y2="49219"/>
                        <a14:foregroundMark x1="27832" y1="30664" x2="27832" y2="30664"/>
                        <a14:foregroundMark x1="12012" y1="61328" x2="12012" y2="61328"/>
                        <a14:foregroundMark x1="8789" y1="65527" x2="8789" y2="65527"/>
                        <a14:foregroundMark x1="33398" y1="56641" x2="33398" y2="56641"/>
                        <a14:foregroundMark x1="64063" y1="49219" x2="64063" y2="49219"/>
                        <a14:foregroundMark x1="62207" y1="35254" x2="62207" y2="35254"/>
                        <a14:foregroundMark x1="73438" y1="41797" x2="73438" y2="41797"/>
                        <a14:foregroundMark x1="85449" y1="51074" x2="85449" y2="51074"/>
                        <a14:foregroundMark x1="87793" y1="48340" x2="87793" y2="48340"/>
                        <a14:foregroundMark x1="84082" y1="49707" x2="84082" y2="49707"/>
                        <a14:backgroundMark x1="83203" y1="50195" x2="83203" y2="50195"/>
                        <a14:backgroundMark x1="85449" y1="52051" x2="85449" y2="52051"/>
                        <a14:backgroundMark x1="83789" y1="49805" x2="83789" y2="49805"/>
                        <a14:backgroundMark x1="84082" y1="49805" x2="84082" y2="49805"/>
                        <a14:backgroundMark x1="84082" y1="49609" x2="84082" y2="49609"/>
                        <a14:backgroundMark x1="83887" y1="50098" x2="83887" y2="50098"/>
                        <a14:backgroundMark x1="85352" y1="50977" x2="85352" y2="50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283" y="-126923"/>
            <a:ext cx="5627434" cy="5627434"/>
          </a:xfrm>
          <a:prstGeom prst="rect">
            <a:avLst/>
          </a:prstGeom>
          <a:noFill/>
          <a:effectLst>
            <a:outerShdw blurRad="152400" dist="1003300" dir="10200000" sx="101000" sy="101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713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Lil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8354</Words>
  <Application>Microsoft Office PowerPoint</Application>
  <PresentationFormat>Widescreen</PresentationFormat>
  <Paragraphs>962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ChunkFive</vt:lpstr>
      <vt:lpstr>Cooper Black</vt:lpstr>
      <vt:lpstr>Script MT Bold</vt:lpstr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Lorand Blaschek</dc:creator>
  <cp:lastModifiedBy>Lorand Blaschek</cp:lastModifiedBy>
  <cp:revision>5</cp:revision>
  <dcterms:created xsi:type="dcterms:W3CDTF">2025-04-22T11:56:10Z</dcterms:created>
  <dcterms:modified xsi:type="dcterms:W3CDTF">2025-05-02T13:07:05Z</dcterms:modified>
</cp:coreProperties>
</file>